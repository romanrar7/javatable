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0000"/>
            <a:ext cx="12192000" cy="260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0000" y="2300000"/>
            <a:ext cx="10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Настільний застосунок для обліку книг бібліотеки</a:t>
            </a:r>
          </a:p>
          <a:p>
            <a:r>
              <a:rPr sz="2200">
                <a:solidFill>
                  <a:srgbClr val="CFE2F3"/>
                </a:solidFill>
              </a:rPr>
              <a:t>JavaFX + JDBC, архітектура MVC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5000000"/>
            <a:ext cx="1080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1600" dirty="0" err="1">
                <a:solidFill>
                  <a:srgbClr val="444444"/>
                </a:solidFill>
              </a:rPr>
              <a:t>Командний</a:t>
            </a:r>
            <a:r>
              <a:rPr sz="1600" dirty="0">
                <a:solidFill>
                  <a:srgbClr val="444444"/>
                </a:solidFill>
              </a:rPr>
              <a:t> </a:t>
            </a:r>
            <a:r>
              <a:rPr sz="1600" dirty="0" err="1">
                <a:solidFill>
                  <a:srgbClr val="444444"/>
                </a:solidFill>
              </a:rPr>
              <a:t>проєкт</a:t>
            </a:r>
            <a:r>
              <a:rPr sz="1600" dirty="0">
                <a:solidFill>
                  <a:srgbClr val="444444"/>
                </a:solidFill>
              </a:rPr>
              <a:t>. </a:t>
            </a:r>
            <a:r>
              <a:rPr sz="1600" dirty="0" err="1">
                <a:solidFill>
                  <a:srgbClr val="444444"/>
                </a:solidFill>
              </a:rPr>
              <a:t>Тема</a:t>
            </a:r>
            <a:r>
              <a:rPr sz="1600" dirty="0">
                <a:solidFill>
                  <a:srgbClr val="444444"/>
                </a:solidFill>
              </a:rPr>
              <a:t> </a:t>
            </a:r>
            <a:r>
              <a:rPr sz="1600" dirty="0" err="1">
                <a:solidFill>
                  <a:srgbClr val="444444"/>
                </a:solidFill>
              </a:rPr>
              <a:t>дослідження</a:t>
            </a:r>
            <a:r>
              <a:rPr sz="1600" dirty="0">
                <a:solidFill>
                  <a:srgbClr val="444444"/>
                </a:solidFill>
              </a:rPr>
              <a:t> (</a:t>
            </a:r>
            <a:r>
              <a:rPr sz="1600" dirty="0" err="1">
                <a:solidFill>
                  <a:srgbClr val="444444"/>
                </a:solidFill>
              </a:rPr>
              <a:t>варіант</a:t>
            </a:r>
            <a:r>
              <a:rPr sz="1600" dirty="0">
                <a:solidFill>
                  <a:srgbClr val="444444"/>
                </a:solidFill>
              </a:rPr>
              <a:t> 3): </a:t>
            </a:r>
            <a:r>
              <a:rPr sz="1600" dirty="0" err="1">
                <a:solidFill>
                  <a:srgbClr val="444444"/>
                </a:solidFill>
              </a:rPr>
              <a:t>обробка</a:t>
            </a:r>
            <a:r>
              <a:rPr sz="1600" dirty="0">
                <a:solidFill>
                  <a:srgbClr val="444444"/>
                </a:solidFill>
              </a:rPr>
              <a:t> </a:t>
            </a:r>
            <a:r>
              <a:rPr sz="1600" dirty="0" err="1">
                <a:solidFill>
                  <a:srgbClr val="444444"/>
                </a:solidFill>
              </a:rPr>
              <a:t>SQLException</a:t>
            </a:r>
            <a:endParaRPr sz="1600" dirty="0">
              <a:solidFill>
                <a:srgbClr val="444444"/>
              </a:solidFill>
            </a:endParaRPr>
          </a:p>
          <a:p>
            <a:r>
              <a:rPr sz="1600" dirty="0" err="1">
                <a:solidFill>
                  <a:srgbClr val="444444"/>
                </a:solidFill>
              </a:rPr>
              <a:t>Виконали</a:t>
            </a:r>
            <a:r>
              <a:rPr sz="1600" dirty="0">
                <a:solidFill>
                  <a:srgbClr val="444444"/>
                </a:solidFill>
              </a:rPr>
              <a:t>: </a:t>
            </a:r>
            <a:r>
              <a:rPr lang="uk-UA" sz="1600" dirty="0">
                <a:solidFill>
                  <a:srgbClr val="444444"/>
                </a:solidFill>
              </a:rPr>
              <a:t>Забара Роман </a:t>
            </a:r>
            <a:r>
              <a:rPr lang="uk-UA" sz="1600" dirty="0" err="1">
                <a:solidFill>
                  <a:srgbClr val="444444"/>
                </a:solidFill>
              </a:rPr>
              <a:t>Ігорович</a:t>
            </a:r>
            <a:endParaRPr sz="1600" dirty="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000" y="3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Актуальність і мета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1250000"/>
            <a:ext cx="11000000" cy="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0000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Майже всі сучасні програми зберігають дані в базах даних.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Уміння працювати з БД через JDBC — базова навичка програміста.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Мета: створити GUI-застосунок для роботи з таблицею у СУБД.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Реалізувати CRUD (додавання, перегляд, редагування, видалення) і пошук.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Окремо дослідити обробку помилок бази даних (варіант 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000" y="3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Предметна область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1250000"/>
            <a:ext cx="11000000" cy="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0000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Облік книжкового фонду бібліотеки.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Для кожної книги зберігаємо: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– назву та автора;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– рік видання;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– кількість примірників.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Бібліотекар додає, редагує, видаляє книги і шукає потрібну.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000" y="3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База даних: таблиця 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1250000"/>
            <a:ext cx="11000000" cy="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0000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book_id — первинний ключ (автоінкремент);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title — назва книги;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author — автор;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publish_year — рік видання;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copies — кількість примірників.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Одна сутність «Книга». Запити виконуються лише через PreparedStatement.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000" y="3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Архітектура (Maven + MVC)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1250000"/>
            <a:ext cx="11000000" cy="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0000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Model — клас Book (дані книги + перевірка значень).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View — інтерфейс у файлі FXML.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Controller — обробка кнопок (BookController).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Доступ до БД — класи Database і BookService.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Технології: Java 17, JavaFX, JDBC, база H2, JUnit.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000" y="3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Функціонал програми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1250000"/>
            <a:ext cx="11000000" cy="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0000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Create — додати нову книгу.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Read — перегляд усіх книг у таблиці.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Update — редагування вибраної книги.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Delete — видалення книги.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Search — пошук за двома критеріями: назвою та автором.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Повідомлення про помилки та про відсутність результатів.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000" y="3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Варіант 3: обробка SQLException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1250000"/>
            <a:ext cx="11000000" cy="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0000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SQLException виникає під час роботи з базою через JDBC.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Причини: немає підключення, невірний пароль, помилка в запиті, дублікат.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Виняток містить корисну інформацію: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– getMessage() — текст помилки;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– getErrorCode() — код помилки СУБД;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</a:rPr>
              <a:t>– getSQLState() — стандартний код стану (5 символів).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000" y="3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Як ми обробляємо помилку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0000" y="1450000"/>
            <a:ext cx="10900000" cy="44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tlCol="0" anchor="ctr"/>
          <a:lstStyle/>
          <a:p>
            <a:pPr algn="ctr"/>
            <a:r>
              <a:rPr sz="1500">
                <a:solidFill>
                  <a:srgbClr val="D4D4D4"/>
                </a:solidFill>
                <a:latin typeface="Consolas"/>
              </a:rPr>
              <a:t>private String dbError(SQLException e) {</a:t>
            </a:r>
          </a:p>
          <a:p>
            <a:r>
              <a:rPr sz="1500">
                <a:solidFill>
                  <a:srgbClr val="D4D4D4"/>
                </a:solidFill>
                <a:latin typeface="Consolas"/>
              </a:rPr>
              <a:t>    String state = e.getSQLState();</a:t>
            </a:r>
          </a:p>
          <a:p>
            <a:r>
              <a:rPr sz="1500">
                <a:solidFill>
                  <a:srgbClr val="D4D4D4"/>
                </a:solidFill>
                <a:latin typeface="Consolas"/>
              </a:rPr>
              <a:t>    if (state != null &amp;&amp; state.startsWith("08"))</a:t>
            </a:r>
          </a:p>
          <a:p>
            <a:r>
              <a:rPr sz="1500">
                <a:solidFill>
                  <a:srgbClr val="D4D4D4"/>
                </a:solidFill>
                <a:latin typeface="Consolas"/>
              </a:rPr>
              <a:t>        return "Немає зв'язку з базою даних";</a:t>
            </a:r>
          </a:p>
          <a:p>
            <a:r>
              <a:rPr sz="1500">
                <a:solidFill>
                  <a:srgbClr val="D4D4D4"/>
                </a:solidFill>
                <a:latin typeface="Consolas"/>
              </a:rPr>
              <a:t>    if (state != null &amp;&amp; state.startsWith("23"))</a:t>
            </a:r>
          </a:p>
          <a:p>
            <a:r>
              <a:rPr sz="1500">
                <a:solidFill>
                  <a:srgbClr val="D4D4D4"/>
                </a:solidFill>
                <a:latin typeface="Consolas"/>
              </a:rPr>
              <a:t>        return "Порушено обмеження таблиці";</a:t>
            </a:r>
          </a:p>
          <a:p>
            <a:r>
              <a:rPr sz="1500">
                <a:solidFill>
                  <a:srgbClr val="D4D4D4"/>
                </a:solidFill>
                <a:latin typeface="Consolas"/>
              </a:rPr>
              <a:t>    if (state != null &amp;&amp; state.startsWith("42"))</a:t>
            </a:r>
          </a:p>
          <a:p>
            <a:r>
              <a:rPr sz="1500">
                <a:solidFill>
                  <a:srgbClr val="D4D4D4"/>
                </a:solidFill>
                <a:latin typeface="Consolas"/>
              </a:rPr>
              <a:t>        return "Помилка запиту або немає таблиці";</a:t>
            </a:r>
          </a:p>
          <a:p>
            <a:r>
              <a:rPr sz="1500">
                <a:solidFill>
                  <a:srgbClr val="D4D4D4"/>
                </a:solidFill>
                <a:latin typeface="Consolas"/>
              </a:rPr>
              <a:t>    return "Помилка бази даних: " + e.getMessage();</a:t>
            </a:r>
          </a:p>
          <a:p>
            <a:r>
              <a:rPr sz="15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5BD2C9-E974-08D5-30CC-2354BAD83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0"/>
            <a:ext cx="12123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0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000" y="3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Чому це важливо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1250000"/>
            <a:ext cx="11000000" cy="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0000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Користувач бачить зрозуміле повідомлення, а не технічний текст.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Програма не «падає» при помилці.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Коди SQLState однакові для різних СУБД — програму легше переносити.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Технічні деталі виводяться в консоль для розробника.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000" y="3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Висновки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000" y="1250000"/>
            <a:ext cx="11000000" cy="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0000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Створено робочий застосунок на JavaFX + JDBC з архітектурою MVC.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Реалізовано CRUD і пошук за двома критеріями.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Досліджено й застосовано обробку SQLException (варіант 3).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Проєкт можна розширити новими таблицями та звітами.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Дякуємо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545</Words>
  <Application>Microsoft Office PowerPoint</Application>
  <PresentationFormat>Широкий екран</PresentationFormat>
  <Paragraphs>67</Paragraphs>
  <Slides>11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Анастасія Ткаченко</cp:lastModifiedBy>
  <cp:revision>3</cp:revision>
  <dcterms:created xsi:type="dcterms:W3CDTF">2013-01-27T09:14:16Z</dcterms:created>
  <dcterms:modified xsi:type="dcterms:W3CDTF">2026-05-31T13:29:42Z</dcterms:modified>
  <cp:category/>
</cp:coreProperties>
</file>